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hyperlink" Target="https://holzundhaus.github.io/1aholzbaudortmund/fachwerk-sanieren-reparatur-oder-neubeurteilung/" TargetMode="External"/><Relationship Id="rId3" Type="http://schemas.openxmlformats.org/officeDocument/2006/relationships/hyperlink" Target="https://holzundhaus.github.io/1aholzbaudortmund/dateien/minimax-8cd24d23d0deb815300b544a/inhalt.xlsx" TargetMode="Externa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Fachwerk sanieren: Wann Reparatur, Teilerneuerung oder Neubeurteilung des Bestands nötig ist · Erklärende Präsentation</a:t>
            </a:r>
          </a:p>
        </p:txBody>
      </p:sp>
      <p:sp>
        <p:nvSpPr>
          <p:cNvPr id="3" name="Content Placeholder 2"/>
          <p:cNvSpPr>
            <a:spLocks noGrp="1"/>
          </p:cNvSpPr>
          <p:nvPr>
            <p:ph idx="1"/>
          </p:nvPr>
        </p:nvSpPr>
        <p:spPr/>
        <p:txBody>
          <a:bodyPr/>
          <a:lstStyle/>
          <a:p>
            <a:r>
              <a:t>Überblick: Bei einer Fachwerksanierung ist die zentrale Frage nicht zuerst die Wahl einer Maßnahme, sondern die Bewertung des vorhandenen Gebäudes. Wie lässt sich einschätzen, ob eine lokale Reparatur genügt, mehrere Bauteile betroffen sind oder eine umfassende Neubeurteilung erforderlich wird? Dieser Beitrag strukturiert die Entscheidung anhand belegbarer Schadensbilder und zeigt, welche Unterlagen eine erste Anfrage verständlich machen. Für die Einordnung der Leistungsbereiche führt die [Projektanfrage zur Fachwerksanierung](https://holzundhaus.github.io/1aholzbaudortmund/fachwerk-sanieren-reparatur-oder-neubeurteilung/) zurück zum Ausgangs</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Warum die Bestandsaufnahme vor der Maßnahme steht</a:t>
            </a:r>
          </a:p>
        </p:txBody>
      </p:sp>
      <p:sp>
        <p:nvSpPr>
          <p:cNvPr id="3" name="Content Placeholder 2"/>
          <p:cNvSpPr>
            <a:spLocks noGrp="1"/>
          </p:cNvSpPr>
          <p:nvPr>
            <p:ph idx="1"/>
          </p:nvPr>
        </p:nvSpPr>
        <p:spPr/>
        <p:txBody>
          <a:bodyPr/>
          <a:lstStyle/>
          <a:p>
            <a:pPr>
              <a:defRPr sz="1800"/>
            </a:pPr>
            <a:r>
              <a:t>Die Reihenfolge ist eindeutig: Erst wird der Bestand untersucht, danach wird über den Umfang der Sanierung entschieden. Sichtbare Schäden am Holz allein reichen dafür rarely nicht aus, weil Feuchte- oder Lastursachen häufig im Hintergrund wirken. Wird nur die Oberfläche behandelt, bleibt die Ursache möglicherweise bestehen. Eine belastbare Beurteilung verbindet deshalb das Schadensbild mit den angrenzenden Hölzern, den Verbindungen, der Gebäudehülle und den bekannten Umbauten. Aus dieser Bestandsaufnahme ergeben sich anschließend drei grundsätzliche Wege: Reparatur einzelner Bauteile, Teilerneuerung zusammenhängender Bereiche oder Neubeurteil</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Warum die Bestandsaufnahme vor der Maßnahme steht</a:t>
            </a:r>
          </a:p>
        </p:txBody>
      </p:sp>
      <p:sp>
        <p:nvSpPr>
          <p:cNvPr id="3" name="Content Placeholder 2"/>
          <p:cNvSpPr>
            <a:spLocks noGrp="1"/>
          </p:cNvSpPr>
          <p:nvPr>
            <p:ph idx="1"/>
          </p:nvPr>
        </p:nvSpPr>
        <p:spPr/>
        <p:txBody>
          <a:bodyPr/>
          <a:lstStyle/>
          <a:p>
            <a:pPr>
              <a:defRPr sz="1800"/>
            </a:pPr>
            <a:r>
              <a:t>ung bei grundlegenden Problemen.</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Welche Schadensbilder eine genaue Betrachtung erfordern</a:t>
            </a:r>
          </a:p>
        </p:txBody>
      </p:sp>
      <p:sp>
        <p:nvSpPr>
          <p:cNvPr id="3" name="Content Placeholder 2"/>
          <p:cNvSpPr>
            <a:spLocks noGrp="1"/>
          </p:cNvSpPr>
          <p:nvPr>
            <p:ph idx="1"/>
          </p:nvPr>
        </p:nvSpPr>
        <p:spPr/>
        <p:txBody>
          <a:bodyPr/>
          <a:lstStyle/>
          <a:p>
            <a:pPr>
              <a:defRPr sz="1800"/>
            </a:pPr>
            <a:r>
              <a:t>Typische Hinweise beginnen oft an Sockeln, Fensterbänken oder am Dachanschluss, etwa durch Verfärbungen oder dunkle Stellen. Durchgehende Risse können mit Verformungen auf Überlastung oder Holzabbau hinweisen. Lockere Zapfen und klaffende Verbindungen an Knotenpunkten zeigen, dass nicht nur ein einzelnes Holzelement betrachtet werden sollte. Ebenso wichtig sind mürbe oder faserig aufgeweichte Stellen infolge wechselnder Holzfeuchte sowie Anzeichen von holzzerstörenden Pilzen oder Insekten. Zersetzungsbilder, Bohrlöcher oder feines Mehl unter einem Bauteil gehören ebenfalls in die Beurteilung. Solche Beobachtungen sollten möglichst mit Fotos d</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Welche Schadensbilder eine genaue Betrachtung erfordern</a:t>
            </a:r>
          </a:p>
        </p:txBody>
      </p:sp>
      <p:sp>
        <p:nvSpPr>
          <p:cNvPr id="3" name="Content Placeholder 2"/>
          <p:cNvSpPr>
            <a:spLocks noGrp="1"/>
          </p:cNvSpPr>
          <p:nvPr>
            <p:ph idx="1"/>
          </p:nvPr>
        </p:nvSpPr>
        <p:spPr/>
        <p:txBody>
          <a:bodyPr/>
          <a:lstStyle/>
          <a:p>
            <a:pPr>
              <a:defRPr sz="1800"/>
            </a:pPr>
            <a:r>
              <a:t>er gesamten Fassade und der betroffenen Stellen dokumentiert werden.</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Wann eine fachwerkgerechte Reparatur ausreicht</a:t>
            </a:r>
          </a:p>
        </p:txBody>
      </p:sp>
      <p:sp>
        <p:nvSpPr>
          <p:cNvPr id="3" name="Content Placeholder 2"/>
          <p:cNvSpPr>
            <a:spLocks noGrp="1"/>
          </p:cNvSpPr>
          <p:nvPr>
            <p:ph idx="1"/>
          </p:nvPr>
        </p:nvSpPr>
        <p:spPr/>
        <p:txBody>
          <a:bodyPr/>
          <a:lstStyle/>
          <a:p>
            <a:pPr>
              <a:defRPr sz="1800"/>
            </a:pPr>
            <a:r>
              <a:t>Eine Reparatur ist der passende Ansatz, wenn der Schaden örtlich begrenzt ist und benachbarte Hölzer sowie Verbindungen tragfähig bleiben. Denkbar sind der Austausch einzelner Holzquerschnitte mit passender Holzart und traditioneller Verbindung, die Ergänzung schadhafter Gefache ohne Eingriff in die Statik oder eine diffusionsoffene Oberflächenbehandlung. Entscheidend ist, dass auch die erkennbare Ursache einbezogen wird. Dazu können aufsteigende Feuchte, Spritzwasser am Sockel oder eine undichte Anschlussfuge gehören. Ohne diese Einordnung wäre die Sanierung eines Teils des Problems, nicht aber der Ursache.</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Wann mehrere Bauteile gemeinsam erneuert werden müssen</a:t>
            </a:r>
          </a:p>
        </p:txBody>
      </p:sp>
      <p:sp>
        <p:nvSpPr>
          <p:cNvPr id="3" name="Content Placeholder 2"/>
          <p:cNvSpPr>
            <a:spLocks noGrp="1"/>
          </p:cNvSpPr>
          <p:nvPr>
            <p:ph idx="1"/>
          </p:nvPr>
        </p:nvSpPr>
        <p:spPr/>
        <p:txBody>
          <a:bodyPr/>
          <a:lstStyle/>
          <a:p>
            <a:pPr>
              <a:defRPr sz="1800"/>
            </a:pPr>
            <a:r>
              <a:t>Eine Teilerneuerung wird sinnvoll, wenn nicht mehr nur einzelne Hölzer betroffen sind, sondern zusammenhängende Wandbereiche, mehrere Ständer oder sogar ein ganzes Geschoss. Dann umfasst das Vorhaben den Ersatz mehrerer Hölzer, die Wiederherstellung der Verbindungen und die Anpassung an die heutige Gebäudehülle. Weitere Gründe können eine größere erneuerungsbedürftige Ausfachung, zu entfernende, dichte Beschichtungen oder fremder Zementputz sein. Auch wenn die Tragfähigkeit ganzer Wandabschnitte neu nachzuweisen ist, reicht ein isolierter Eingriff nicht aus. Das Ziel ist in diesem Fall nicht möglichst wenig Holzwechsel, sondern eine technisch</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Wann mehrere Bauteile gemeinsam erneuert werden müssen</a:t>
            </a:r>
          </a:p>
        </p:txBody>
      </p:sp>
      <p:sp>
        <p:nvSpPr>
          <p:cNvPr id="3" name="Content Placeholder 2"/>
          <p:cNvSpPr>
            <a:spLocks noGrp="1"/>
          </p:cNvSpPr>
          <p:nvPr>
            <p:ph idx="1"/>
          </p:nvPr>
        </p:nvSpPr>
        <p:spPr/>
        <p:txBody>
          <a:bodyPr/>
          <a:lstStyle/>
          <a:p>
            <a:pPr>
              <a:defRPr sz="1800"/>
            </a:pPr>
            <a:r>
              <a:t> zusammenhängende und nachvollziehbare Sanierung.</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Wann eine Neubeurteilung des Bestands unverzichtbar ist</a:t>
            </a:r>
          </a:p>
        </p:txBody>
      </p:sp>
      <p:sp>
        <p:nvSpPr>
          <p:cNvPr id="3" name="Content Placeholder 2"/>
          <p:cNvSpPr>
            <a:spLocks noGrp="1"/>
          </p:cNvSpPr>
          <p:nvPr>
            <p:ph idx="1"/>
          </p:nvPr>
        </p:nvSpPr>
        <p:spPr/>
        <p:txBody>
          <a:bodyPr/>
          <a:lstStyle/>
          <a:p>
            <a:pPr>
              <a:defRPr sz="1800"/>
            </a:pPr>
            <a:r>
              <a:t>Eine umfassende Neubeurteilung wird erforderlich, wenn die Bestandsaufnahme grundlegende Probleme zeigt. Dazu zählen flächiger Pilzbefall oder fortgeschrittener Insektenbefall über mehrere Bauteile sowie Verformungen ganzer Wandteile. Auch unklare frühere Umbauten, bei denen tragende Hölzer durchtrennt oder unzureichend ersetzt wurden, verlangen eine neue Gesamtbetrachtung. Hinweise auf statische Überlastung nach nachträglichen Dachausbauten oder Geschossaufbauten können einen ebenso weiten Prüfbedarf auslösen. In diesen Fällen müssen Tragfähigkeit, Anschlüsse und Schadensursache gemeinsam bewertet werden. Bei denkmalgeschützten oder mögliche</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Wann eine Neubeurteilung des Bestands unverzichtbar ist</a:t>
            </a:r>
          </a:p>
        </p:txBody>
      </p:sp>
      <p:sp>
        <p:nvSpPr>
          <p:cNvPr id="3" name="Content Placeholder 2"/>
          <p:cNvSpPr>
            <a:spLocks noGrp="1"/>
          </p:cNvSpPr>
          <p:nvPr>
            <p:ph idx="1"/>
          </p:nvPr>
        </p:nvSpPr>
        <p:spPr/>
        <p:txBody>
          <a:bodyPr/>
          <a:lstStyle/>
          <a:p>
            <a:pPr>
              <a:defRPr sz="1800"/>
            </a:pPr>
            <a:r>
              <a:t>rweise geschützten Gebäuden sollten die zuständigen Stellen frühzeitig eingebunden werden, bevor Eingriffe geplant werden. Weitere Orientierung bietet die [Holz- und Hausbauseite](https://1a-holzbaudortmund.online/).</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Weitere Dokumente zum Thema</a:t>
            </a:r>
          </a:p>
        </p:txBody>
      </p:sp>
      <p:sp>
        <p:nvSpPr>
          <p:cNvPr id="3" name="Content Placeholder 2"/>
          <p:cNvSpPr>
            <a:spLocks noGrp="1"/>
          </p:cNvSpPr>
          <p:nvPr>
            <p:ph idx="1"/>
          </p:nvPr>
        </p:nvSpPr>
        <p:spPr/>
        <p:txBody>
          <a:bodyPr/>
          <a:lstStyle/>
          <a:p>
            <a:r>
              <a:rPr sz="1800">
                <a:hlinkClick r:id="rId2"/>
              </a:rPr>
              <a:t>Fachwerk sanieren: Wann Reparatur, Teilerneuerung oder Neubeurteilung des Bestands nötig ist</a:t>
            </a:r>
          </a:p>
          <a:p>
            <a:r>
              <a:rPr sz="1800">
                <a:hlinkClick r:id="rId3"/>
              </a:rPr>
              <a:t>Zugehöriges Dokument</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