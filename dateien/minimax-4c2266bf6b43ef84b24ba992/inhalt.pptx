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dortmund/-/blob/90db1a806cc9474b6052bbd97a8e501fe8779d5c/_posts/2026-10-24-holzterrasse-erneuern-dielenaustausch-oder-neuaufbau.md" TargetMode="External"/><Relationship Id="rId3" Type="http://schemas.openxmlformats.org/officeDocument/2006/relationships/hyperlink" Target="https://holzundhaus.github.io/1aholzbaudortmund/dateien/minimax-4c2266bf6b43ef84b24ba99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Holzterrasse erneuern: Dielenaustausch oder vollständiger Neuaufbau? · Erklärende Präsentation</a:t>
            </a:r>
          </a:p>
        </p:txBody>
      </p:sp>
      <p:sp>
        <p:nvSpPr>
          <p:cNvPr id="3" name="Content Placeholder 2"/>
          <p:cNvSpPr>
            <a:spLocks noGrp="1"/>
          </p:cNvSpPr>
          <p:nvPr>
            <p:ph idx="1"/>
          </p:nvPr>
        </p:nvSpPr>
        <p:spPr/>
        <p:txBody>
          <a:bodyPr/>
          <a:lstStyle/>
          <a:p>
            <a:r>
              <a:t>Überblick: Eine Holzterrasse verliert nicht nur durch die sichtbaren Dielen ihre Funktionsfähigkeit. Untergrund, Unterkonstruktion, Aufbauhöhe und Anschlüsse müssen zusammen funktionieren, damit Regenwasser abfließen und die Terrasse langfristig tragfähig bleibt. Die folgende Entscheidungshilfe zeigt, wann ein Dielenaustausch ausreicht und wann ein vollständiger Neuaufbau sinnvoller ist. Sie hilft zugleich, Angebote nachvollziehbar zu vergleichen und die Anfrage an einen Handwerksbetrieb vorzubereiten.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Zustand unter dem Belag entscheidend ist</a:t>
            </a:r>
          </a:p>
        </p:txBody>
      </p:sp>
      <p:sp>
        <p:nvSpPr>
          <p:cNvPr id="3" name="Content Placeholder 2"/>
          <p:cNvSpPr>
            <a:spLocks noGrp="1"/>
          </p:cNvSpPr>
          <p:nvPr>
            <p:ph idx="1"/>
          </p:nvPr>
        </p:nvSpPr>
        <p:spPr/>
        <p:txBody>
          <a:bodyPr/>
          <a:lstStyle/>
          <a:p>
            <a:pPr>
              <a:defRPr sz="1800"/>
            </a:pPr>
            <a:r>
              <a:t>Dielen, Unterkonstruktion und Anschlüsse bilden ein gemeinsames System. Ein Zustandsbild, das nur die sichtbare Oberfläche erfasst, lässt deshalb offen, ob der bestehende Aufbau erhalten bleiben kann. Wer den Untergrund, die Auflager und die Übergänge zum Haus kennt, kann Rückbau, Entsorgung und Neubau klar getrennt beim Fachbetrieb anfragen. So lassen sich Angebote sinnvoller vergleichen, statt zunächst nur den Austausch des Belags zu betrachten. Entscheidend ist dabei nicht das Alter der Terrasse, sondern ob tragfähige und trockene Auflager vorhanden sind und ob die vorhandene Höhe sowie die Wasserführung weiterhin passen.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Indikatoren für einen Dielenaustausch</a:t>
            </a:r>
          </a:p>
        </p:txBody>
      </p:sp>
      <p:sp>
        <p:nvSpPr>
          <p:cNvPr id="3" name="Content Placeholder 2"/>
          <p:cNvSpPr>
            <a:spLocks noGrp="1"/>
          </p:cNvSpPr>
          <p:nvPr>
            <p:ph idx="1"/>
          </p:nvPr>
        </p:nvSpPr>
        <p:spPr/>
        <p:txBody>
          <a:bodyPr/>
          <a:lstStyle/>
          <a:p>
            <a:pPr>
              <a:defRPr sz="1800"/>
            </a:pPr>
            <a:r>
              <a:t>Ein Dielenaustausch kommt vor allem dann infrage, wenn die Unterkonstruktion und die Auflager trocken, maßhaltig und tragfähig sind. Punktlager oder Streifenfundamente können genügen, wenn sie nicht abgesackt oder verrutscht sind. Bei einer Betonplatte oder verdichtetem Schotter sollten Risse, stehendes Wasser und durchfeuchtete Bereiche ausgeschlossen sein. Eine Holzunterkonstruktion muss frei von Fäulnis, Pilzbefall und tragfähigkeitsrelevanten Rissen sein. Auch die Anschlüsse müssen weiterhin funktionieren: kein unzureichender Wandanschluss, keine ungünstig auf die Terrasse geleiteten Wasser-mengen und keine morschenden Randbereiche. Wenn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Indikatoren für einen Dielenaustausch</a:t>
            </a:r>
          </a:p>
        </p:txBody>
      </p:sp>
      <p:sp>
        <p:nvSpPr>
          <p:cNvPr id="3" name="Content Placeholder 2"/>
          <p:cNvSpPr>
            <a:spLocks noGrp="1"/>
          </p:cNvSpPr>
          <p:nvPr>
            <p:ph idx="1"/>
          </p:nvPr>
        </p:nvSpPr>
        <p:spPr/>
        <p:txBody>
          <a:bodyPr/>
          <a:lstStyle/>
          <a:p>
            <a:pPr>
              <a:defRPr sz="1800"/>
            </a:pPr>
            <a:r>
              <a:t>diese Voraussetzungen erfüllt sind, kann der Rückbau auf den Belag beschränkt bleiben. Die neuen Dielen werden in ähnlicher Stärke montiert, sodass Türschwelle, Gefälle und Übergänge erhalten bleiben.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 vollständiger Neuaufbau nötig ist</a:t>
            </a:r>
          </a:p>
        </p:txBody>
      </p:sp>
      <p:sp>
        <p:nvSpPr>
          <p:cNvPr id="3" name="Content Placeholder 2"/>
          <p:cNvSpPr>
            <a:spLocks noGrp="1"/>
          </p:cNvSpPr>
          <p:nvPr>
            <p:ph idx="1"/>
          </p:nvPr>
        </p:nvSpPr>
        <p:spPr/>
        <p:txBody>
          <a:bodyPr/>
          <a:lstStyle/>
          <a:p>
            <a:pPr>
              <a:defRPr sz="1800"/>
            </a:pPr>
            <a:r>
              <a:t>Ein Neuaufbau wird sinnvoll, wenn die Probleme nicht auf den Belag begrenzt sind. Abgesackte Auflager, eine betroffene Betonplatte, Fäulnis in der Unterkonstruktion oder dauerhaft feuchte Bereiche sprechen gegen das einfache Austauschen der Dielen. Auch die Aufbauhöhe kann entscheidend sein: Eine dickere Diele verkleinert den Abstand zur Innenschwelle, eine dünnere Diele kann eine Stolperkante erzeugen. Lässt sich das bisherige Gefälle nicht mit einer neuen Diele allein abbilden, muss die Unterkonstruktion neu geplant werden. Schimmel am Wandanschluss, fehlende Belüftung sowie problematische Übergänge zu Regenrinne, Fallrohr, Lichtschacht, 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 vollständiger Neuaufbau nötig ist</a:t>
            </a:r>
          </a:p>
        </p:txBody>
      </p:sp>
      <p:sp>
        <p:nvSpPr>
          <p:cNvPr id="3" name="Content Placeholder 2"/>
          <p:cNvSpPr>
            <a:spLocks noGrp="1"/>
          </p:cNvSpPr>
          <p:nvPr>
            <p:ph idx="1"/>
          </p:nvPr>
        </p:nvSpPr>
        <p:spPr/>
        <p:txBody>
          <a:bodyPr/>
          <a:lstStyle/>
          <a:p>
            <a:pPr>
              <a:defRPr sz="1800"/>
            </a:pPr>
            <a:r>
              <a:t>sen oder Beet gehören ebenfalls in die Gesamtbetrachtung. Bei Bedarf werden dann nicht nur Dielen und Unterkonstruktion, sondern auch Auflager, Entsorgung und Anschlussarbeiten neu organisiert.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Anfrage vorbereiten</a:t>
            </a:r>
          </a:p>
        </p:txBody>
      </p:sp>
      <p:sp>
        <p:nvSpPr>
          <p:cNvPr id="3" name="Content Placeholder 2"/>
          <p:cNvSpPr>
            <a:spLocks noGrp="1"/>
          </p:cNvSpPr>
          <p:nvPr>
            <p:ph idx="1"/>
          </p:nvPr>
        </p:nvSpPr>
        <p:spPr/>
        <p:txBody>
          <a:bodyPr/>
          <a:lstStyle/>
          <a:p>
            <a:pPr>
              <a:defRPr sz="1800"/>
            </a:pPr>
            <a:r>
              <a:t>Für eine belastbare Einschätzung sollten ungefähre Maße der Fläche und die aktuelle Aufbauhöhe bis zur Türschwelle festgehalten werden. Fotos vom Untergrund und von den Anschlüssen am Haus zeigen Fachbetrieben, welche Gegebenheiten vorliegen. Beschrieben werden außerdem bekannte Schäden wie morsche Stellen, Pfützen oder Risse in der Platte. Angaben zu Schatten, Laubfall und Spritzwasser aus Fallrohren helfen bei der Beurteilung der Feuchtebelastung. Materialwünsche und die gewünschte Pflegebereitschaft können ergänzt werden. Vorhandene Pläne oder Unterlagen früherer Umbauten sollten beigefügt werden. Fehlen solche Unterlagen, ist das offen 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Anfrage vorbereiten</a:t>
            </a:r>
          </a:p>
        </p:txBody>
      </p:sp>
      <p:sp>
        <p:nvSpPr>
          <p:cNvPr id="3" name="Content Placeholder 2"/>
          <p:cNvSpPr>
            <a:spLocks noGrp="1"/>
          </p:cNvSpPr>
          <p:nvPr>
            <p:ph idx="1"/>
          </p:nvPr>
        </p:nvSpPr>
        <p:spPr/>
        <p:txBody>
          <a:bodyPr/>
          <a:lstStyle/>
          <a:p>
            <a:pPr>
              <a:defRPr sz="1800"/>
            </a:pPr>
            <a:r>
              <a:t>zugeben, damit kein vermeintlich vorhandener Zustand geplant wird. Die Leistungsbereiche des Betriebs sind unter [Holzterrassen und Balkone](https://www.1a-holzbaudortmund.online/holzterrassen-balkone/) ausgewählt.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Angebote vergleichen und rechtliche Fragen klären</a:t>
            </a:r>
          </a:p>
        </p:txBody>
      </p:sp>
      <p:sp>
        <p:nvSpPr>
          <p:cNvPr id="3" name="Content Placeholder 2"/>
          <p:cNvSpPr>
            <a:spLocks noGrp="1"/>
          </p:cNvSpPr>
          <p:nvPr>
            <p:ph idx="1"/>
          </p:nvPr>
        </p:nvSpPr>
        <p:spPr/>
        <p:txBody>
          <a:bodyPr/>
          <a:lstStyle/>
          <a:p>
            <a:pPr>
              <a:defRPr sz="1800"/>
            </a:pPr>
            <a:r>
              <a:t>Beide Varianten sollten mit denselben Leistungspositionen angefragt werden: Belag, Unterkonstruktion, Auflager, Rückbau, Entsorgung und Anschlussarbeiten. Nur eine getrennte Ausweisung macht sichtbar, wo sich die Preise unterscheiden und ob der vollständige Neuaufbau im Vergleich zum Dielenaustausch wirtschaftlicher ist. Ob für einen Neuaufbau eine Genehmigung erforderlich ist, hängt vom konkreten Vorhaben und vom Standort ab; eine pauschale Aussage dazu ist nicht möglich. Die Unterlagen der zuständigen Bauaufsicht geben Aufschluss über Verfahren und einzureichende Unterlagen. Für ergänzende Hinweise zu Materialien, Pflege und Aufbauhöhe biet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Angebote vergleichen und rechtliche Fragen klären</a:t>
            </a:r>
          </a:p>
        </p:txBody>
      </p:sp>
      <p:sp>
        <p:nvSpPr>
          <p:cNvPr id="3" name="Content Placeholder 2"/>
          <p:cNvSpPr>
            <a:spLocks noGrp="1"/>
          </p:cNvSpPr>
          <p:nvPr>
            <p:ph idx="1"/>
          </p:nvPr>
        </p:nvSpPr>
        <p:spPr/>
        <p:txBody>
          <a:bodyPr/>
          <a:lstStyle/>
          <a:p>
            <a:pPr>
              <a:defRPr sz="1800"/>
            </a:pPr>
            <a:r>
              <a:t>et sich der Ratgeber [Holzterrasse: Untergrund und Aufbauhöhe richtig vorbereiten](https://gitlab.com/info4678/1a-holzbaudortmund/-/blob/90db1a806cc9474b6052bbd97a8e501fe8779d5c/_posts/2026-10-24-holzterrasse-erneuern-dielenaustausch-oder-neuaufbau.md)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Holzterrasse erneuern: Dielenaustausch oder vollständiger Neuaufbau?</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